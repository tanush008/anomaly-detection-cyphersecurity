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4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xmlns="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xmlns="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xmlns="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xmlns="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FB1BDE7-2DA0-F526-CF6E-F50D43C2C5FE}"/>
              </a:ext>
            </a:extLst>
          </p:cNvPr>
          <p:cNvSpPr txBox="1"/>
          <p:nvPr/>
        </p:nvSpPr>
        <p:spPr>
          <a:xfrm>
            <a:off x="681872" y="816375"/>
            <a:ext cx="10900527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AI-Powered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Behavioural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Anomaly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Detection for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CypherSecurity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CypherSecurity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Name- Tanush Aggarwal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ID- 23BAI10320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AI-Powered Behavioural Anomaly Detection for CypherSecurity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05878" y="1963554"/>
            <a:ext cx="12086120" cy="3662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b="1" u="sng" dirty="0"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Learns each entity's normal behaviour instead of matching known attack signatures, then fuses 4 signals — a rule engine, Isolation Forest, XGBoost, and an LSTM autoencoder — into one 0-100 risk score per event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 Detects 7 attack patterns (brute force, impossible travel, lateral movement, device spoofing, credential stuffing, low-and-slow exfiltration) across users, service accounts and edge devices, with cold-start and concept-drift handling built in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Every alert is explainable (rules fired + SHAP-attributed features) and honestly evaluated on a held-out time window — 98% out-of-time accuracy, 100% precision at a 1% analyst alert budget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200" y="1458283"/>
            <a:ext cx="10972800" cy="14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Python, scikit-learn (Isolation Forest), XGBoost, TensorFlow (LSTM autoencoder), SHAP, Streamlit + Plotly (dashboard), pandas, Docker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Synthetic access logs → per-entity baseline profiling + rule engine → 15-feature matrix → 4 signals fused into a 0-100 risk score → Streamlit analyst dashboard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1" name="Signal1"/>
          <p:cNvSpPr/>
          <p:nvPr/>
        </p:nvSpPr>
        <p:spPr>
          <a:xfrm>
            <a:off x="609600" y="4020000"/>
            <a:ext cx="2450000" cy="620000"/>
          </a:xfrm>
          <a:prstGeom prst="roundRect">
            <a:avLst>
              <a:gd name="adj" fmla="val 8000"/>
            </a:avLst>
          </a:prstGeom>
          <a:solidFill>
            <a:srgbClr val="2E5266"/>
          </a:solidFill>
          <a:ln>
            <a:noFill/>
          </a:ln>
        </p:spPr>
        <p:txBody>
          <a:bodyPr wrap="square" lIns="36576" tIns="18288" rIns="36576" bIns="18288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Rule Engine (30%)</a:t>
            </a:r>
          </a:p>
        </p:txBody>
      </p:sp>
      <p:sp>
        <p:nvSpPr>
          <p:cNvPr id="102" name="Signal2"/>
          <p:cNvSpPr/>
          <p:nvPr/>
        </p:nvSpPr>
        <p:spPr>
          <a:xfrm>
            <a:off x="3269600" y="4020000"/>
            <a:ext cx="2450000" cy="620000"/>
          </a:xfrm>
          <a:prstGeom prst="roundRect">
            <a:avLst>
              <a:gd name="adj" fmla="val 8000"/>
            </a:avLst>
          </a:prstGeom>
          <a:solidFill>
            <a:srgbClr val="3E6B8A"/>
          </a:solidFill>
          <a:ln>
            <a:noFill/>
          </a:ln>
        </p:spPr>
        <p:txBody>
          <a:bodyPr wrap="square" lIns="36576" tIns="18288" rIns="36576" bIns="18288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Isolation Forest (25%)</a:t>
            </a:r>
          </a:p>
        </p:txBody>
      </p:sp>
      <p:sp>
        <p:nvSpPr>
          <p:cNvPr id="103" name="Signal3"/>
          <p:cNvSpPr/>
          <p:nvPr/>
        </p:nvSpPr>
        <p:spPr>
          <a:xfrm>
            <a:off x="5929600" y="4020000"/>
            <a:ext cx="2450000" cy="620000"/>
          </a:xfrm>
          <a:prstGeom prst="roundRect">
            <a:avLst>
              <a:gd name="adj" fmla="val 8000"/>
            </a:avLst>
          </a:prstGeom>
          <a:solidFill>
            <a:srgbClr val="4A7FA8"/>
          </a:solidFill>
          <a:ln>
            <a:noFill/>
          </a:ln>
        </p:spPr>
        <p:txBody>
          <a:bodyPr wrap="square" lIns="36576" tIns="18288" rIns="36576" bIns="18288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XGBoost Classifier (25%)</a:t>
            </a:r>
          </a:p>
        </p:txBody>
      </p:sp>
      <p:sp>
        <p:nvSpPr>
          <p:cNvPr id="104" name="Signal4"/>
          <p:cNvSpPr/>
          <p:nvPr/>
        </p:nvSpPr>
        <p:spPr>
          <a:xfrm>
            <a:off x="8589600" y="4020000"/>
            <a:ext cx="2450000" cy="620000"/>
          </a:xfrm>
          <a:prstGeom prst="roundRect">
            <a:avLst>
              <a:gd name="adj" fmla="val 8000"/>
            </a:avLst>
          </a:prstGeom>
          <a:solidFill>
            <a:srgbClr val="5A93C4"/>
          </a:solidFill>
          <a:ln>
            <a:noFill/>
          </a:ln>
        </p:spPr>
        <p:txBody>
          <a:bodyPr wrap="square" lIns="36576" tIns="18288" rIns="36576" bIns="18288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LSTM Autoencoder (20%)</a:t>
            </a:r>
          </a:p>
        </p:txBody>
      </p:sp>
      <p:sp>
        <p:nvSpPr>
          <p:cNvPr id="105" name="ArrowDown1"/>
          <p:cNvSpPr/>
          <p:nvPr/>
        </p:nvSpPr>
        <p:spPr>
          <a:xfrm>
            <a:off x="5614600" y="4670000"/>
            <a:ext cx="420000" cy="1900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FusedScore"/>
          <p:cNvSpPr/>
          <p:nvPr/>
        </p:nvSpPr>
        <p:spPr>
          <a:xfrm>
            <a:off x="609600" y="4890000"/>
            <a:ext cx="10430000" cy="500000"/>
          </a:xfrm>
          <a:prstGeom prst="roundRect">
            <a:avLst>
              <a:gd name="adj" fmla="val 8000"/>
            </a:avLst>
          </a:prstGeom>
          <a:solidFill>
            <a:srgbClr val="1B3A57"/>
          </a:solidFill>
          <a:ln>
            <a:noFill/>
          </a:ln>
        </p:spPr>
        <p:txBody>
          <a:bodyPr wrap="square" lIns="36576" tIns="18288" rIns="36576" bIns="18288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Fused 0–100 Risk Score + Plain-English Explanation</a:t>
            </a:r>
          </a:p>
        </p:txBody>
      </p:sp>
      <p:sp>
        <p:nvSpPr>
          <p:cNvPr id="107" name="ArrowDown2"/>
          <p:cNvSpPr/>
          <p:nvPr/>
        </p:nvSpPr>
        <p:spPr>
          <a:xfrm>
            <a:off x="5614600" y="5415000"/>
            <a:ext cx="420000" cy="1900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Dashboard"/>
          <p:cNvSpPr/>
          <p:nvPr/>
        </p:nvSpPr>
        <p:spPr>
          <a:xfrm>
            <a:off x="609600" y="5630000"/>
            <a:ext cx="10430000" cy="460000"/>
          </a:xfrm>
          <a:prstGeom prst="roundRect">
            <a:avLst>
              <a:gd name="adj" fmla="val 8000"/>
            </a:avLst>
          </a:prstGeom>
          <a:solidFill>
            <a:srgbClr val="0F2942"/>
          </a:solidFill>
          <a:ln>
            <a:noFill/>
          </a:ln>
        </p:spPr>
        <p:txBody>
          <a:bodyPr wrap="square" lIns="36576" tIns="18288" rIns="36576" bIns="18288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Arial"/>
                <a:cs typeface="Arial"/>
              </a:rPr>
              <a:t>Streamlit Analyst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97845" y="1320870"/>
            <a:ext cx="10972800" cy="14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98% out-of-time accuracy on a fully held-out window (train: days 0-21, eval: days 22-29) — not an in-sample number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low_and_slow_exfiltration is the hardest class (39% precision); insider_drift is deliberately ambiguous; synthetic data is cleaner than real traffic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: correlate raw events into one alert per episode before the review budget; iterate features on the weakest class; move to a Kafka/feature-store pipeline at scale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00" name="StatCard200"/>
          <p:cNvSpPr/>
          <p:nvPr/>
        </p:nvSpPr>
        <p:spPr>
          <a:xfrm>
            <a:off x="503722" y="3950000"/>
            <a:ext cx="3500000" cy="1500000"/>
          </a:xfrm>
          <a:prstGeom prst="roundRect">
            <a:avLst>
              <a:gd name="adj" fmla="val 6000"/>
            </a:avLst>
          </a:prstGeom>
          <a:solidFill>
            <a:srgbClr val="1B3A57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Arial"/>
                <a:cs typeface="Arial"/>
              </a:rPr>
              <a:t>98%</a:t>
            </a:r>
          </a:p>
          <a:p>
            <a:pPr algn="ctr"/>
            <a:r>
              <a:rPr lang="en-US" sz="1300" dirty="0">
                <a:solidFill>
                  <a:srgbClr val="E8EEF4"/>
                </a:solidFill>
                <a:latin typeface="Arial"/>
                <a:cs typeface="Arial"/>
              </a:rPr>
              <a:t>Out-of-time accuracy</a:t>
            </a:r>
          </a:p>
        </p:txBody>
      </p:sp>
      <p:sp>
        <p:nvSpPr>
          <p:cNvPr id="201" name="StatCard201"/>
          <p:cNvSpPr/>
          <p:nvPr/>
        </p:nvSpPr>
        <p:spPr>
          <a:xfrm>
            <a:off x="4376661" y="3930858"/>
            <a:ext cx="3500000" cy="1500000"/>
          </a:xfrm>
          <a:prstGeom prst="roundRect">
            <a:avLst>
              <a:gd name="adj" fmla="val 6000"/>
            </a:avLst>
          </a:prstGeom>
          <a:solidFill>
            <a:srgbClr val="2E5266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Arial"/>
                <a:cs typeface="Arial"/>
              </a:rPr>
              <a:t>100%</a:t>
            </a:r>
          </a:p>
          <a:p>
            <a:pPr algn="ctr"/>
            <a:r>
              <a:rPr lang="en-US" sz="1300" dirty="0">
                <a:solidFill>
                  <a:srgbClr val="E8EEF4"/>
                </a:solidFill>
                <a:latin typeface="Arial"/>
                <a:cs typeface="Arial"/>
              </a:rPr>
              <a:t>Precision @ top-1% alert budget</a:t>
            </a:r>
          </a:p>
        </p:txBody>
      </p:sp>
      <p:sp>
        <p:nvSpPr>
          <p:cNvPr id="202" name="StatCard202"/>
          <p:cNvSpPr/>
          <p:nvPr/>
        </p:nvSpPr>
        <p:spPr>
          <a:xfrm>
            <a:off x="8326602" y="3950108"/>
            <a:ext cx="3500000" cy="1500000"/>
          </a:xfrm>
          <a:prstGeom prst="roundRect">
            <a:avLst>
              <a:gd name="adj" fmla="val 6000"/>
            </a:avLst>
          </a:prstGeom>
          <a:solidFill>
            <a:srgbClr val="3E6B8A"/>
          </a:solidFill>
          <a:ln>
            <a:noFill/>
          </a:ln>
        </p:spPr>
        <p:txBody>
          <a:bodyPr wrap="square" lIns="45720" tIns="45720" rIns="45720" bIns="45720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Arial"/>
                <a:cs typeface="Arial"/>
              </a:rPr>
              <a:t>5.5%</a:t>
            </a:r>
          </a:p>
          <a:p>
            <a:pPr algn="ctr"/>
            <a:r>
              <a:rPr lang="en-US" sz="1300" dirty="0">
                <a:solidFill>
                  <a:srgbClr val="E8EEF4"/>
                </a:solidFill>
                <a:latin typeface="Arial"/>
                <a:cs typeface="Arial"/>
              </a:rPr>
              <a:t>Events on cold-start fallback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xmlns="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17410" name="TextBox 8"/>
          <p:cNvSpPr txBox="1"/>
          <p:nvPr/>
        </p:nvSpPr>
        <p:spPr bwMode="auto">
          <a:xfrm>
            <a:off x="500000" y="1160000"/>
            <a:ext cx="11192000" cy="420000"/>
          </a:xfrm>
          <a:prstGeom prst="rect">
            <a:avLst/>
          </a:prstGeom>
          <a:noFill/>
        </p:spPr>
        <p:txBody>
          <a:bodyPr wrap="square" lIns="0" tIns="0" rIns="0" bIns="0">
            <a:normAutofit lnSpcReduction="10000"/>
          </a:bodyPr>
          <a:lstStyle/>
          <a:p>
            <a:r>
              <a:rPr lang="en-US" sz="1500" dirty="0">
                <a:latin typeface="Arial" pitchFamily="34" charset="0"/>
                <a:cs typeface="Arial" pitchFamily="34" charset="0"/>
              </a:rPr>
              <a:t>Code: github.com/Tanush008/Anomaly-Detection-CypherSecurity  •  Report: report/anomaly_detection_report.pdf  •  Dashboard: Streamlit + Plotly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300" name="Dash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084" y="1700000"/>
            <a:ext cx="3625832" cy="16500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301" name="Caption301"/>
          <p:cNvSpPr txBox="1"/>
          <p:nvPr/>
        </p:nvSpPr>
        <p:spPr>
          <a:xfrm>
            <a:off x="500000" y="3390000"/>
            <a:ext cx="5496000" cy="280000"/>
          </a:xfrm>
          <a:prstGeom prst="rect">
            <a:avLst/>
          </a:prstGeom>
          <a:noFill/>
        </p:spPr>
        <p:txBody>
          <a:bodyPr wrap="square" lIns="0" tIns="18288" rIns="0" bIns="0" anchor="t">
            <a:normAutofit/>
          </a:bodyPr>
          <a:lstStyle/>
          <a:p>
            <a:pPr algn="ctr"/>
            <a:r>
              <a:rPr lang="en-US" sz="1200" i="1" dirty="0">
                <a:solidFill>
                  <a:srgbClr val="595959"/>
                </a:solidFill>
                <a:latin typeface="Arial"/>
                <a:cs typeface="Arial"/>
              </a:rPr>
              <a:t>Detected alerts by pattern, with out-of-time precision @ top 1%</a:t>
            </a:r>
          </a:p>
        </p:txBody>
      </p:sp>
      <p:pic>
        <p:nvPicPr>
          <p:cNvPr id="302" name="Dash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5953" y="1700000"/>
            <a:ext cx="3516093" cy="16500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303" name="Caption303"/>
          <p:cNvSpPr txBox="1"/>
          <p:nvPr/>
        </p:nvSpPr>
        <p:spPr>
          <a:xfrm>
            <a:off x="6196000" y="3390000"/>
            <a:ext cx="5496000" cy="280000"/>
          </a:xfrm>
          <a:prstGeom prst="rect">
            <a:avLst/>
          </a:prstGeom>
          <a:noFill/>
        </p:spPr>
        <p:txBody>
          <a:bodyPr wrap="square" lIns="0" tIns="18288" rIns="0" bIns="0" anchor="t">
            <a:normAutofit/>
          </a:bodyPr>
          <a:lstStyle/>
          <a:p>
            <a:pPr algn="ctr"/>
            <a:r>
              <a:rPr lang="en-US" sz="1200" i="1" dirty="0">
                <a:solidFill>
                  <a:srgbClr val="595959"/>
                </a:solidFill>
                <a:latin typeface="Arial"/>
                <a:cs typeface="Arial"/>
              </a:rPr>
              <a:t>Live feed — simulated real-time alert replay</a:t>
            </a:r>
          </a:p>
        </p:txBody>
      </p:sp>
      <p:pic>
        <p:nvPicPr>
          <p:cNvPr id="304" name="Dash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8263" y="3830000"/>
            <a:ext cx="3599473" cy="16500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305" name="Caption305"/>
          <p:cNvSpPr txBox="1"/>
          <p:nvPr/>
        </p:nvSpPr>
        <p:spPr>
          <a:xfrm>
            <a:off x="500000" y="5520000"/>
            <a:ext cx="5496000" cy="280000"/>
          </a:xfrm>
          <a:prstGeom prst="rect">
            <a:avLst/>
          </a:prstGeom>
          <a:noFill/>
        </p:spPr>
        <p:txBody>
          <a:bodyPr wrap="square" lIns="0" tIns="18288" rIns="0" bIns="0" anchor="t">
            <a:normAutofit/>
          </a:bodyPr>
          <a:lstStyle/>
          <a:p>
            <a:pPr algn="ctr"/>
            <a:r>
              <a:rPr lang="en-US" sz="1200" i="1" dirty="0">
                <a:solidFill>
                  <a:srgbClr val="595959"/>
                </a:solidFill>
                <a:latin typeface="Arial"/>
                <a:cs typeface="Arial"/>
              </a:rPr>
              <a:t>Filterable alerts table with risk scores and explanations</a:t>
            </a:r>
          </a:p>
        </p:txBody>
      </p:sp>
      <p:pic>
        <p:nvPicPr>
          <p:cNvPr id="306" name="Dash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6890" y="3830000"/>
            <a:ext cx="4054219" cy="16500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307" name="Caption307"/>
          <p:cNvSpPr txBox="1"/>
          <p:nvPr/>
        </p:nvSpPr>
        <p:spPr>
          <a:xfrm>
            <a:off x="6196000" y="5520000"/>
            <a:ext cx="5496000" cy="280000"/>
          </a:xfrm>
          <a:prstGeom prst="rect">
            <a:avLst/>
          </a:prstGeom>
          <a:noFill/>
        </p:spPr>
        <p:txBody>
          <a:bodyPr wrap="square" lIns="0" tIns="18288" rIns="0" bIns="0" anchor="t">
            <a:normAutofit/>
          </a:bodyPr>
          <a:lstStyle/>
          <a:p>
            <a:pPr algn="ctr"/>
            <a:r>
              <a:rPr lang="en-US" sz="1200" i="1" dirty="0">
                <a:solidFill>
                  <a:srgbClr val="595959"/>
                </a:solidFill>
                <a:latin typeface="Arial"/>
                <a:cs typeface="Arial"/>
              </a:rPr>
              <a:t>Per-entity risk score timeline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32598" y="1871238"/>
            <a:ext cx="10972800" cy="2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Project repository — github.com/Tanush008/Anomaly-Detection-CypherSecurity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scikit-learn Isolation Forest — Liu, Ting &amp; Zhou, “Isolation Forest,” ICDM 2008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XGBoost — Chen &amp; Guestrin, “XGBoost: A Scalable Tree Boosting System,” KDD 2016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SHAP explainability — Lundberg &amp; Lee, “A Unified Approach to Interpreting Model Predictions,” NeurIPS 2017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TensorFlow/Keras LSTM autoencoders for sequence anomaly detection — TensorFlow documentation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7672</TotalTime>
  <Words>477</Words>
  <Application>Microsoft Office PowerPoint</Application>
  <PresentationFormat>Widescreen</PresentationFormat>
  <Paragraphs>63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 AI-Powered Behavioural Anomaly Detection for CypherSecurity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dc:creator>Tanush Aggarwal</dc:creator>
  <cp:keywords/>
  <dc:description/>
  <cp:lastModifiedBy>Windows User</cp:lastModifiedBy>
  <cp:revision>154</cp:revision>
  <dcterms:created xsi:type="dcterms:W3CDTF">2013-12-12T18:46:50Z</dcterms:created>
  <dcterms:modified xsi:type="dcterms:W3CDTF">2026-07-26T02:28:22Z</dcterms:modified>
  <cp:category/>
</cp:coreProperties>
</file>